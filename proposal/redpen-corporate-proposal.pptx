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51215" y="-2194560"/>
            <a:ext cx="5486400" cy="5486400"/>
          </a:xfrm>
          <a:prstGeom prst="ellipse">
            <a:avLst/>
          </a:prstGeom>
          <a:solidFill>
            <a:srgbClr val="C8102E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480560"/>
            <a:ext cx="4572000" cy="4572000"/>
          </a:xfrm>
          <a:prstGeom prst="ellipse">
            <a:avLst/>
          </a:prstGeom>
          <a:solidFill>
            <a:srgbClr val="C8102E">
              <a:alpha val="8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229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5544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法人向け研修 ご提案資料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40080" y="20116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思考整理研修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D8D5D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「書く」だけで、社員一人ひとりの判断力と行動力を引き出す。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5989320"/>
            <a:ext cx="3108960" cy="0"/>
          </a:xfrm>
          <a:prstGeom prst="line">
            <a:avLst/>
          </a:prstGeom>
          <a:noFill/>
          <a:ln w="19050">
            <a:solidFill>
              <a:srgbClr val="C8102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9C9894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  /  企業研修プログラム提案書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BACKGROUND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今、多くの組織で起きていること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業務量、タスク数、会議数、チャットやメールの量は年々増え続けている。</a:t>
            </a:r>
            <a:endParaRPr lang="en-US" sz="1600" dirty="0"/>
          </a:p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しかし、組織のパフォーマンスを下げている本当の原因は、「業務量」そのものではない。</a:t>
            </a:r>
            <a:endParaRPr lang="en-US" sz="1600" dirty="0"/>
          </a:p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多くの社員の頭の中が、整理されていない思考や懸念事項でいっぱいになっている。</a:t>
            </a:r>
            <a:endParaRPr lang="en-US" sz="1600" dirty="0"/>
          </a:p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その結果、優先順位がつけられない、判断が遅れる、行動が止まる——という状態が、あらゆる階層で起きている。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0960" y="1828800"/>
            <a:ext cx="384048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1993392"/>
            <a:ext cx="585216" cy="585216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10144" y="2139696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641080" y="1828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未処理のタスク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80960" y="2971800"/>
            <a:ext cx="384048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863840" y="3136392"/>
            <a:ext cx="585216" cy="585216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0144" y="3282696"/>
            <a:ext cx="292608" cy="29260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641080" y="2971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繰り返す懸念事項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7680960" y="4114800"/>
            <a:ext cx="384048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863840" y="4279392"/>
            <a:ext cx="585216" cy="585216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144" y="4425696"/>
            <a:ext cx="292608" cy="29260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641080" y="4114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優先順位の混乱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7680960" y="5257800"/>
            <a:ext cx="3840480" cy="9144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863840" y="5422392"/>
            <a:ext cx="585216" cy="585216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0144" y="5568696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41080" y="52578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判断の遅れ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IT HAPPENS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「考えすぎる」のは、能力の高い人ほど起きやすい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1371600" cy="137160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320290"/>
            <a:ext cx="754380" cy="7543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651760" y="1965960"/>
            <a:ext cx="88696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優秀な社員ほど、多くの情報・タスク・期待を引き受けている。</a:t>
            </a:r>
            <a:endParaRPr lang="en-US" sz="1600" dirty="0"/>
          </a:p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責任感が強いほど、考えごとを抱え込みやすい。</a:t>
            </a:r>
            <a:endParaRPr lang="en-US" sz="1600" dirty="0"/>
          </a:p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「ちゃんと考えよう」とするほど、同じ問題を何度も頭の中で繰り返してしまう。</a:t>
            </a:r>
            <a:endParaRPr lang="en-US" sz="1600" dirty="0"/>
          </a:p>
          <a:p>
            <a:pPr marL="177800" indent="-177800">
              <a:spcAft>
                <a:spcPts val="18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結果として、目の前の仕事に使えるはずの集中力が、頭の中の「考えごと」に消費されてしまう。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5120640"/>
            <a:ext cx="10908792" cy="914400"/>
          </a:xfrm>
          <a:prstGeom prst="rect">
            <a:avLst/>
          </a:prstGeom>
          <a:solidFill>
            <a:srgbClr val="FBE7EA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512064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0E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つまり、「能力が足りない」ことが問題ではなく、整理されていない思考が能力の発揮を妨げている。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MECHANISM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思考の混乱は、行動力を奪う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246888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頭の中に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未整理の思考が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溜まる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0108" y="2852928"/>
            <a:ext cx="237744" cy="23774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29000" y="2103120"/>
            <a:ext cx="246888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6616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集中力・判断力が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「考え続けること」に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消費される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9028" y="2852928"/>
            <a:ext cx="237744" cy="23774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17920" y="2103120"/>
            <a:ext cx="2468880" cy="1737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35508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何が重要か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分からなくなる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（優先順位の崩壊）</a:t>
            </a:r>
            <a:endParaRPr lang="en-US" sz="14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7948" y="2852928"/>
            <a:ext cx="237744" cy="23774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06840" y="2103120"/>
            <a:ext cx="2468880" cy="1737360"/>
          </a:xfrm>
          <a:prstGeom prst="rect">
            <a:avLst/>
          </a:prstGeom>
          <a:solidFill>
            <a:srgbClr val="C8102E"/>
          </a:solidFill>
          <a:ln w="12700">
            <a:solidFill>
              <a:srgbClr val="C8102E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9144000" y="21031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決断が遅れ、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行動が止まる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40080" y="4297680"/>
            <a:ext cx="1090879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頭の中に未整理の思考が溜まると、脳のエネルギーが「考え続けること」に使われ続ける。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結果、目の前のタスクに使えるはずの集中力や判断力が減っていく。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何が重要か分からなくなり、すべてが「気になること」に見えてしまう。</a:t>
            </a:r>
            <a:endParaRPr lang="en-US" sz="1500" dirty="0"/>
          </a:p>
          <a:p>
            <a:pPr marL="177800" indent="-1778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一つひとつの決断に時間がかかるようになり、組織全体のスピードが落ちる。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SYMPTOMS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現場でよく見られる症状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4672" y="2139696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29971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192024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会議が長引き、結論が出にくい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263640" y="1920240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28232" y="2139696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8252" y="2299716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1920240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メールやチャットの対応が後手に回る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40080" y="3163824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4672" y="3383280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" y="354330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00200" y="3163824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タスクが溜まっているのに手が動かない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63640" y="3163824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28232" y="3383280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8252" y="354330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23760" y="3163824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「あとで考える」が積み重なり、常に何かが気になっている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0080" y="4407408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804672" y="4626864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692" y="4786884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600200" y="4407408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同じ議題が何度も話し合われる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263640" y="4407408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6428232" y="4626864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8252" y="4786884"/>
            <a:ext cx="320040" cy="3200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23760" y="4407408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部下から「何をすればいいか分からない」という相談が増える</a:t>
            </a:r>
            <a:endParaRPr lang="en-US" sz="1400" dirty="0"/>
          </a:p>
        </p:txBody>
      </p:sp>
      <p:sp>
        <p:nvSpPr>
          <p:cNvPr id="31" name="Shape 23"/>
          <p:cNvSpPr/>
          <p:nvPr/>
        </p:nvSpPr>
        <p:spPr>
          <a:xfrm>
            <a:off x="640080" y="5650992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804672" y="5870448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4692" y="6030468"/>
            <a:ext cx="320040" cy="3200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600200" y="5650992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優先順位の議論に時間がかかる</a:t>
            </a:r>
            <a:endParaRPr lang="en-US" sz="1400" dirty="0"/>
          </a:p>
        </p:txBody>
      </p:sp>
      <p:sp>
        <p:nvSpPr>
          <p:cNvPr id="35" name="Shape 26"/>
          <p:cNvSpPr/>
          <p:nvPr/>
        </p:nvSpPr>
        <p:spPr>
          <a:xfrm>
            <a:off x="6263640" y="5650992"/>
            <a:ext cx="5349240" cy="1078992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6428232" y="5870448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8252" y="6030468"/>
            <a:ext cx="320040" cy="320040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7223760" y="5650992"/>
            <a:ext cx="42519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マネージャー自身も、常に頭がいっぱいの状態が続く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「整理された頭」が、行動力を引き出す。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54864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743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D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人は、「考えられないから動けない」のではない。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54864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361188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D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頭の中が整理されていないから、動けない。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40080" y="4572000"/>
            <a:ext cx="54864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4805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D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思考を整理することで、本来持っている判断力と行動力を取り戻すことができる。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54864" cy="64008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534924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思考整理は特別な才能ではなく、誰でも身につけられる技術である。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THE METHOD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シンプルな4つのステップ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2606040" cy="3657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965960"/>
            <a:ext cx="260604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468880" y="2167128"/>
            <a:ext cx="548640" cy="54864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6040" y="2304288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22960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書く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822960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頭の中にあることを、思いつくまま全て紙に書き出す。整理しようとせず、まずは外に出す。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493008" y="1965960"/>
            <a:ext cx="2606040" cy="3657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493008" y="1965960"/>
            <a:ext cx="260604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ext 13"/>
          <p:cNvSpPr/>
          <p:nvPr/>
        </p:nvSpPr>
        <p:spPr>
          <a:xfrm>
            <a:off x="3675888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5321808" y="2167128"/>
            <a:ext cx="548640" cy="54864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2304288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675888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認める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675888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書いたものを良し悪しで判断せず、そのまま受け止める。感情や不安もそのまま認める。</a:t>
            </a:r>
            <a:endParaRPr lang="en-US" sz="1350" dirty="0"/>
          </a:p>
        </p:txBody>
      </p:sp>
      <p:sp>
        <p:nvSpPr>
          <p:cNvPr id="21" name="Shape 17"/>
          <p:cNvSpPr/>
          <p:nvPr/>
        </p:nvSpPr>
        <p:spPr>
          <a:xfrm>
            <a:off x="6345936" y="1965960"/>
            <a:ext cx="2606040" cy="3657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45936" y="1965960"/>
            <a:ext cx="260604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ext 19"/>
          <p:cNvSpPr/>
          <p:nvPr/>
        </p:nvSpPr>
        <p:spPr>
          <a:xfrm>
            <a:off x="6528816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03</a:t>
            </a:r>
            <a:endParaRPr lang="en-US" sz="2200" dirty="0"/>
          </a:p>
        </p:txBody>
      </p:sp>
      <p:sp>
        <p:nvSpPr>
          <p:cNvPr id="24" name="Shape 20"/>
          <p:cNvSpPr/>
          <p:nvPr/>
        </p:nvSpPr>
        <p:spPr>
          <a:xfrm>
            <a:off x="8174736" y="2167128"/>
            <a:ext cx="548640" cy="54864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1896" y="2304288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528816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見直す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6528816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赤ペンを持ち、書いた内容を見直す。事実と思い込みを分け、本当に重要な点を見極める。</a:t>
            </a:r>
            <a:endParaRPr lang="en-US" sz="1350" dirty="0"/>
          </a:p>
        </p:txBody>
      </p:sp>
      <p:sp>
        <p:nvSpPr>
          <p:cNvPr id="28" name="Shape 23"/>
          <p:cNvSpPr/>
          <p:nvPr/>
        </p:nvSpPr>
        <p:spPr>
          <a:xfrm>
            <a:off x="9198864" y="1965960"/>
            <a:ext cx="2606040" cy="365760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9198864" y="1965960"/>
            <a:ext cx="260604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ext 25"/>
          <p:cNvSpPr/>
          <p:nvPr/>
        </p:nvSpPr>
        <p:spPr>
          <a:xfrm>
            <a:off x="9381744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04</a:t>
            </a:r>
            <a:endParaRPr lang="en-US" sz="2200" dirty="0"/>
          </a:p>
        </p:txBody>
      </p:sp>
      <p:sp>
        <p:nvSpPr>
          <p:cNvPr id="31" name="Shape 26"/>
          <p:cNvSpPr/>
          <p:nvPr/>
        </p:nvSpPr>
        <p:spPr>
          <a:xfrm>
            <a:off x="11027664" y="2167128"/>
            <a:ext cx="548640" cy="54864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4824" y="2304288"/>
            <a:ext cx="274320" cy="27432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381744" y="274320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決める</a:t>
            </a:r>
            <a:endParaRPr lang="en-US" sz="2200" dirty="0"/>
          </a:p>
        </p:txBody>
      </p:sp>
      <p:sp>
        <p:nvSpPr>
          <p:cNvPr id="34" name="Text 28"/>
          <p:cNvSpPr/>
          <p:nvPr/>
        </p:nvSpPr>
        <p:spPr>
          <a:xfrm>
            <a:off x="9381744" y="3337560"/>
            <a:ext cx="2240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見直した内容から、次に取る一つの行動を決める。小さな一歩でよい。</a:t>
            </a:r>
            <a:endParaRPr lang="en-US" sz="1350" dirty="0"/>
          </a:p>
        </p:txBody>
      </p:sp>
      <p:sp>
        <p:nvSpPr>
          <p:cNvPr id="35" name="Text 29"/>
          <p:cNvSpPr/>
          <p:nvPr/>
        </p:nvSpPr>
        <p:spPr>
          <a:xfrm>
            <a:off x="640080" y="58521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E0E22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特別な道具は不要。必要なのは、紙とペン、そして約15分の時間だけ。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PROGRAM CONTENT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研修の構成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640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思考整理の基本的な考え方を学ぶ（講義）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「書く」ことで頭の中を整理する方法を体験する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事実・感情・思い込みを分けて捉える視点を身につける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優先順位をつけるための、簡単な手順を習得する</a:t>
            </a:r>
            <a:endParaRPr lang="en-US" sz="1600" dirty="0"/>
          </a:p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見直した内容から、次の行動を決める実践ワークを行う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80960" y="1920240"/>
            <a:ext cx="3840480" cy="393192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194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研修の構成要素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55280" y="2834640"/>
            <a:ext cx="548640" cy="54864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97180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955280" y="2834640"/>
            <a:ext cx="548640" cy="548640"/>
          </a:xfrm>
          <a:prstGeom prst="ellipse">
            <a:avLst/>
          </a:prstGeom>
          <a:solidFill>
            <a:srgbClr val="C8102E">
              <a:alpha val="20000"/>
            </a:srgbClr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29718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64108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講義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8641080" y="31546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6C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考え方と背景を理解する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955280" y="3794760"/>
            <a:ext cx="548640" cy="54864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3931920"/>
            <a:ext cx="274320" cy="27432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7955280" y="3794760"/>
            <a:ext cx="548640" cy="548640"/>
          </a:xfrm>
          <a:prstGeom prst="ellipse">
            <a:avLst/>
          </a:prstGeom>
          <a:solidFill>
            <a:srgbClr val="C8102E">
              <a:alpha val="20000"/>
            </a:srgbClr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93192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4108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個人ワーク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8641080" y="41148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6C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実際に書き、見直す体験を行う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7955280" y="4754880"/>
            <a:ext cx="548640" cy="54864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4892040"/>
            <a:ext cx="274320" cy="27432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7955280" y="4754880"/>
            <a:ext cx="548640" cy="548640"/>
          </a:xfrm>
          <a:prstGeom prst="ellipse">
            <a:avLst/>
          </a:prstGeom>
          <a:solidFill>
            <a:srgbClr val="C8102E">
              <a:alpha val="20000"/>
            </a:srgbClr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2440" y="4892040"/>
            <a:ext cx="274320" cy="27432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641080" y="4754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グループ共有</a:t>
            </a:r>
            <a:endParaRPr lang="en-US" sz="1500" dirty="0"/>
          </a:p>
        </p:txBody>
      </p:sp>
      <p:sp>
        <p:nvSpPr>
          <p:cNvPr id="27" name="Text 19"/>
          <p:cNvSpPr/>
          <p:nvPr/>
        </p:nvSpPr>
        <p:spPr>
          <a:xfrm>
            <a:off x="8641080" y="50749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9C6C3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他者の視点から学びを広げる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WORKSHOP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当日の進め方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621792" cy="62179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207568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92024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紙とペンを使い、自分の頭の中にあることを書き出すワーク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2724912"/>
            <a:ext cx="10908792" cy="0"/>
          </a:xfrm>
          <a:prstGeom prst="line">
            <a:avLst/>
          </a:prstGeom>
          <a:noFill/>
          <a:ln w="12700">
            <a:solidFill>
              <a:srgbClr val="E4E2E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2788920"/>
            <a:ext cx="621792" cy="62179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944368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08760" y="278892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書き出した内容を整理し、仕分けるワーク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640080" y="3593592"/>
            <a:ext cx="10908792" cy="0"/>
          </a:xfrm>
          <a:prstGeom prst="line">
            <a:avLst/>
          </a:prstGeom>
          <a:noFill/>
          <a:ln w="12700">
            <a:solidFill>
              <a:srgbClr val="E4E2E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657600"/>
            <a:ext cx="621792" cy="62179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813048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08760" y="365760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優先順位をつけ、次の一歩を決めるワーク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40080" y="4462272"/>
            <a:ext cx="10908792" cy="0"/>
          </a:xfrm>
          <a:prstGeom prst="line">
            <a:avLst/>
          </a:prstGeom>
          <a:noFill/>
          <a:ln w="12700">
            <a:solidFill>
              <a:srgbClr val="E4E2E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4526280"/>
            <a:ext cx="621792" cy="62179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681728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52628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ペアワーク・グループ共有による、他者の視点の獲得</a:t>
            </a:r>
            <a:endParaRPr lang="en-US" sz="1600" dirty="0"/>
          </a:p>
        </p:txBody>
      </p:sp>
      <p:sp>
        <p:nvSpPr>
          <p:cNvPr id="22" name="Shape 16"/>
          <p:cNvSpPr/>
          <p:nvPr/>
        </p:nvSpPr>
        <p:spPr>
          <a:xfrm>
            <a:off x="640080" y="5330952"/>
            <a:ext cx="10908792" cy="0"/>
          </a:xfrm>
          <a:prstGeom prst="line">
            <a:avLst/>
          </a:prstGeom>
          <a:noFill/>
          <a:ln w="12700">
            <a:solidFill>
              <a:srgbClr val="E4E2E0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40080" y="5394960"/>
            <a:ext cx="621792" cy="62179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5550408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508760" y="5394960"/>
            <a:ext cx="9692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実務でそのまま使えるシートの提供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OUTCOMES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期待される成果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5349240" cy="402336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194560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23545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1945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個人の変化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914400" y="306324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頭の中が整理され、気持ちが軽くなる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優先順位が明確になる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やるべきことが見えるようになる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判断のスピードが上がる</a:t>
            </a:r>
            <a:endParaRPr lang="en-US" sz="1500" dirty="0"/>
          </a:p>
          <a:p>
            <a:pPr marL="177800" indent="-177800"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行動量が増える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349240" cy="4023360"/>
          </a:xfrm>
          <a:prstGeom prst="rect">
            <a:avLst/>
          </a:prstGeom>
          <a:solidFill>
            <a:srgbClr val="1C1C1C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2194560"/>
            <a:ext cx="640080" cy="64008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7980" y="235458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21945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チーム・組織の変化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6537960" y="3063240"/>
            <a:ext cx="4800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会議の効率が上がり、結論が出やすくなる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一人ひとりの生産性が向上する</a:t>
            </a:r>
            <a:endParaRPr lang="en-US" sz="1500" dirty="0"/>
          </a:p>
          <a:p>
            <a:pPr marL="177800" indent="-177800">
              <a:spcAft>
                <a:spcPts val="14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チーム全体の意思決定が早くなる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EXPECTED IMPACT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想定される導入効果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011680"/>
            <a:ext cx="352044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130" y="2411730"/>
            <a:ext cx="342900" cy="3429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会議時間の短縮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343400" y="2011680"/>
            <a:ext cx="352044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240280"/>
            <a:ext cx="685800" cy="68580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450" y="2411730"/>
            <a:ext cx="342900" cy="3429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タスク完了までのリードタイム短縮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046720" y="2011680"/>
            <a:ext cx="352044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75320" y="2240280"/>
            <a:ext cx="685800" cy="68580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6770" y="2411730"/>
            <a:ext cx="342900" cy="3429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275320" y="301752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意思決定スピードの向上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640080" y="3886200"/>
            <a:ext cx="352044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4114800"/>
            <a:ext cx="685800" cy="68580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130" y="4286250"/>
            <a:ext cx="342900" cy="3429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4892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手戻り・やり直し作業の減少</a:t>
            </a:r>
            <a:endParaRPr lang="en-US" sz="1500" dirty="0"/>
          </a:p>
        </p:txBody>
      </p:sp>
      <p:sp>
        <p:nvSpPr>
          <p:cNvPr id="23" name="Shape 17"/>
          <p:cNvSpPr/>
          <p:nvPr/>
        </p:nvSpPr>
        <p:spPr>
          <a:xfrm>
            <a:off x="4343400" y="3886200"/>
            <a:ext cx="352044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572000" y="4114800"/>
            <a:ext cx="685800" cy="68580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3450" y="4286250"/>
            <a:ext cx="342900" cy="3429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572000" y="4892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部下からの相談対応にかかる時間の削減</a:t>
            </a:r>
            <a:endParaRPr lang="en-US" sz="1500" dirty="0"/>
          </a:p>
        </p:txBody>
      </p:sp>
      <p:sp>
        <p:nvSpPr>
          <p:cNvPr id="27" name="Shape 20"/>
          <p:cNvSpPr/>
          <p:nvPr/>
        </p:nvSpPr>
        <p:spPr>
          <a:xfrm>
            <a:off x="8046720" y="3886200"/>
            <a:ext cx="352044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8275320" y="4114800"/>
            <a:ext cx="685800" cy="685800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46770" y="4286250"/>
            <a:ext cx="342900" cy="3429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275320" y="48920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一人ひとりの心理的な負荷の軽減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640080" y="608076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※ 効果の現れ方は組織やテーマにより異なります。導入前のヒアリングを通じて、貴社の課題に合わせた進め方をご提案します。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WHO IT'S FOR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対象となる方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534924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21408"/>
            <a:ext cx="713232" cy="71323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" y="2299716"/>
            <a:ext cx="356616" cy="3566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管理職・マネージャー層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91640" y="2423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意思決定や部下対応に追われ、頭の中が整理できていない方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4924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2121408"/>
            <a:ext cx="713232" cy="71323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4828" y="2299716"/>
            <a:ext cx="356616" cy="35661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15200" y="201168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多くの情報やタスクを抱えるメンバー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7315200" y="242316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業務量が多く、優先順位の判断に時間がかかっている方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3310128"/>
            <a:ext cx="534924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22960" y="3557016"/>
            <a:ext cx="713232" cy="71323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3735324"/>
            <a:ext cx="356616" cy="35661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91640" y="3447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プロジェクトリーダー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1691640" y="38587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複数の論点を同時に抱え、整理が必要な方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6263640" y="3310128"/>
            <a:ext cx="534924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46520" y="3557016"/>
            <a:ext cx="713232" cy="71323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4828" y="3735324"/>
            <a:ext cx="356616" cy="35661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344728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新任管理職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7315200" y="3858768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新しい役割の中で、考え方の土台を整えたい方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640080" y="4745736"/>
            <a:ext cx="534924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22960" y="4992624"/>
            <a:ext cx="713232" cy="713232"/>
          </a:xfrm>
          <a:prstGeom prst="ellipse">
            <a:avLst/>
          </a:prstGeom>
          <a:solidFill>
            <a:srgbClr val="FBE7EA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" y="5170932"/>
            <a:ext cx="356616" cy="356616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691640" y="488289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経営層</a:t>
            </a:r>
            <a:endParaRPr lang="en-US" sz="1500" dirty="0"/>
          </a:p>
        </p:txBody>
      </p:sp>
      <p:sp>
        <p:nvSpPr>
          <p:cNvPr id="31" name="Text 24"/>
          <p:cNvSpPr/>
          <p:nvPr/>
        </p:nvSpPr>
        <p:spPr>
          <a:xfrm>
            <a:off x="1691640" y="5294376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全社展開を見据え、まずは自身で体験したい方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FORMAT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実施形式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920240"/>
          <a:ext cx="10908792" cy="4206240"/>
        </p:xfrm>
        <a:graphic>
          <a:graphicData uri="http://schemas.openxmlformats.org/drawingml/2006/table">
            <a:tbl>
              <a:tblPr/>
              <a:tblGrid>
                <a:gridCol w="3291840"/>
                <a:gridCol w="7616952"/>
              </a:tblGrid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項目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内容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90分ワークショップ（基礎編）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チーム・グループ向け。思考整理の基本を体験する。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半日研修（応用・実践編）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部門・リーダー層向け。実務課題に応用するワークを含む。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実施方法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オンライン・対面のいずれにも対応可能。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人数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1グループあたりの人数は、貴社のご要望に応じて調整。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863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C1C1C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フォローアップ</a:t>
                      </a:r>
                      <a:endParaRPr lang="en-US" sz="14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Hiragino Sans" pitchFamily="34" charset="0"/>
                          <a:ea typeface="Hiragino Sans" pitchFamily="34" charset="-122"/>
                          <a:cs typeface="Hiragino Sans" pitchFamily="34" charset="-120"/>
                        </a:rPr>
                        <a:t>実践の定着を目的とした、後日の振り返り会も実施可能。</a:t>
                      </a:r>
                      <a:endParaRPr lang="en-US" sz="1300" dirty="0">
                        <a:latin typeface="Hiragino Sans" charset="0"/>
                        <a:ea typeface="Hiragino Sans" charset="0"/>
                        <a:cs typeface="Hiragino Sans" charset="0"/>
                      </a:endParaRPr>
                    </a:p>
                  </a:txBody>
                  <a:tcPr marL="127000" marR="127000" marT="101600" marB="101600" anchor="ctr">
                    <a:lnL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SAMPLE SCHEDULE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7724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C1C1C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90分ワークショップの進行例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2194560" y="2103120"/>
            <a:ext cx="0" cy="4023360"/>
          </a:xfrm>
          <a:prstGeom prst="line">
            <a:avLst/>
          </a:prstGeom>
          <a:noFill/>
          <a:ln w="25400">
            <a:solidFill>
              <a:srgbClr val="E4E2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11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0:00 - 0:10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112264" y="2157984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0" name="Shape 8"/>
          <p:cNvSpPr/>
          <p:nvPr/>
        </p:nvSpPr>
        <p:spPr>
          <a:xfrm>
            <a:off x="2468880" y="2011680"/>
            <a:ext cx="91440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201168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イントロダクション・本日のゴール共有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2852928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0:10 - 0:30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112264" y="2999232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68880" y="2852928"/>
            <a:ext cx="91440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97480" y="2852928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思考整理の考え方の説明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0080" y="3694176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0:30 - 1:00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2112264" y="3840480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8" name="Shape 16"/>
          <p:cNvSpPr/>
          <p:nvPr/>
        </p:nvSpPr>
        <p:spPr>
          <a:xfrm>
            <a:off x="2468880" y="3694176"/>
            <a:ext cx="91440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97480" y="369417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個人ワーク：書き出し・仕分け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0080" y="4535424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1:00 - 1:20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2112264" y="4681728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2" name="Shape 20"/>
          <p:cNvSpPr/>
          <p:nvPr/>
        </p:nvSpPr>
        <p:spPr>
          <a:xfrm>
            <a:off x="2468880" y="4535424"/>
            <a:ext cx="91440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97480" y="4535424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グループ共有・優先順位づけ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0080" y="537667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1:20 - 1:30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112264" y="5522976"/>
            <a:ext cx="164592" cy="16459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6" name="Shape 24"/>
          <p:cNvSpPr/>
          <p:nvPr/>
        </p:nvSpPr>
        <p:spPr>
          <a:xfrm>
            <a:off x="2468880" y="5376672"/>
            <a:ext cx="9144000" cy="640080"/>
          </a:xfrm>
          <a:prstGeom prst="rect">
            <a:avLst/>
          </a:prstGeom>
          <a:solidFill>
            <a:srgbClr val="FAFAFA"/>
          </a:solidFill>
          <a:ln w="12700">
            <a:solidFill>
              <a:srgbClr val="E4E2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97480" y="5376672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1C1C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まとめ・次の一歩の設定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3017520"/>
            <a:ext cx="5486400" cy="5486400"/>
          </a:xfrm>
          <a:prstGeom prst="ellipse">
            <a:avLst/>
          </a:prstGeom>
          <a:solidFill>
            <a:srgbClr val="C8102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46304" cy="14630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Text 2"/>
          <p:cNvSpPr/>
          <p:nvPr/>
        </p:nvSpPr>
        <p:spPr>
          <a:xfrm>
            <a:off x="11277295" y="63550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15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6355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6E6E6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RED PEN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420624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102E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Hiragino Mincho ProN" pitchFamily="34" charset="0"/>
                <a:ea typeface="Hiragino Mincho ProN" pitchFamily="34" charset="-122"/>
                <a:cs typeface="Hiragino Mincho ProN" pitchFamily="34" charset="-120"/>
              </a:rPr>
              <a:t>まずは、90分から。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E6E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業務量を減らすのではなく、「思考を整理する」ことで本来の行動力を引き出す研修です。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E6E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シンプルで、誰でもすぐに実践できる方法です。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E6E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個人・チーム双方の生産性向上が期待できます。</a:t>
            </a:r>
            <a:endParaRPr lang="en-US" sz="1700" dirty="0"/>
          </a:p>
          <a:p>
            <a:pPr marL="177800" indent="-177800">
              <a:spcAft>
                <a:spcPts val="1600"/>
              </a:spcAft>
              <a:buSzPct val="100000"/>
              <a:buChar char="■"/>
            </a:pPr>
            <a:r>
              <a:rPr lang="en-US" sz="1700" dirty="0">
                <a:solidFill>
                  <a:srgbClr val="E6E3E0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まずは90分のワークショップから、貴社の課題に合わせてご相談ください。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5394960"/>
            <a:ext cx="10908792" cy="9144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Sans" pitchFamily="34" charset="0"/>
                <a:ea typeface="Hiragino Sans" pitchFamily="34" charset="-122"/>
                <a:cs typeface="Hiragino Sans" pitchFamily="34" charset="-120"/>
              </a:rPr>
              <a:t>お問い合わせ：[ ご担当者名 / メールアドレス / 電話番号 ]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思考整理研修 ご提案資料</dc:title>
  <dc:subject>PptxGenJS Presentation</dc:subject>
  <dc:creator>RED PEN</dc:creator>
  <cp:lastModifiedBy>RED PEN</cp:lastModifiedBy>
  <cp:revision>1</cp:revision>
  <dcterms:created xsi:type="dcterms:W3CDTF">2026-06-13T23:54:05Z</dcterms:created>
  <dcterms:modified xsi:type="dcterms:W3CDTF">2026-06-13T23:54:05Z</dcterms:modified>
</cp:coreProperties>
</file>